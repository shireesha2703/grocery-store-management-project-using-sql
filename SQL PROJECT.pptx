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8" r:id="rId3"/>
    <p:sldId id="291" r:id="rId4"/>
    <p:sldId id="292" r:id="rId5"/>
    <p:sldId id="260" r:id="rId6"/>
    <p:sldId id="261" r:id="rId7"/>
    <p:sldId id="262" r:id="rId8"/>
    <p:sldId id="263" r:id="rId9"/>
    <p:sldId id="264" r:id="rId10"/>
    <p:sldId id="265" r:id="rId11"/>
    <p:sldId id="267" r:id="rId12"/>
    <p:sldId id="268" r:id="rId13"/>
    <p:sldId id="269" r:id="rId14"/>
    <p:sldId id="271" r:id="rId15"/>
    <p:sldId id="270" r:id="rId16"/>
    <p:sldId id="272" r:id="rId17"/>
    <p:sldId id="273" r:id="rId18"/>
    <p:sldId id="276" r:id="rId19"/>
    <p:sldId id="277" r:id="rId20"/>
    <p:sldId id="278" r:id="rId21"/>
    <p:sldId id="279" r:id="rId22"/>
    <p:sldId id="281" r:id="rId23"/>
    <p:sldId id="282" r:id="rId24"/>
    <p:sldId id="283" r:id="rId25"/>
    <p:sldId id="284" r:id="rId26"/>
    <p:sldId id="285" r:id="rId27"/>
    <p:sldId id="286" r:id="rId28"/>
    <p:sldId id="287" r:id="rId29"/>
    <p:sldId id="289" r:id="rId30"/>
    <p:sldId id="293" r:id="rId31"/>
    <p:sldId id="259" r:id="rId32"/>
  </p:sldIdLst>
  <p:sldSz cx="12192000" cy="6858000"/>
  <p:notesSz cx="6858000" cy="9144000"/>
  <p:embeddedFontLst>
    <p:embeddedFont>
      <p:font typeface="Algerian" panose="04020705040A02060702" pitchFamily="82" charset="0"/>
      <p:regular r:id="rId34"/>
    </p:embeddedFont>
    <p:embeddedFont>
      <p:font typeface="Arial Black" panose="020B0A04020102020204" pitchFamily="34" charset="0"/>
      <p:bold r:id="rId35"/>
    </p:embeddedFont>
    <p:embeddedFont>
      <p:font typeface="Libre Baskerville" panose="02000000000000000000" pitchFamily="2" charset="0"/>
      <p:regular r:id="rId36"/>
      <p:bold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58" d="100"/>
          <a:sy n="58" d="100"/>
        </p:scale>
        <p:origin x="8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4289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694098"/>
          </a:xfrm>
          <a:prstGeom prst="rect">
            <a:avLst/>
          </a:prstGeom>
          <a:noFill/>
          <a:ln>
            <a:noFill/>
          </a:ln>
        </p:spPr>
      </p:pic>
      <p:sp>
        <p:nvSpPr>
          <p:cNvPr id="99" name="Google Shape;99;p1"/>
          <p:cNvSpPr txBox="1"/>
          <p:nvPr/>
        </p:nvSpPr>
        <p:spPr>
          <a:xfrm>
            <a:off x="2472904" y="3717986"/>
            <a:ext cx="7246189" cy="1323399"/>
          </a:xfrm>
          <a:prstGeom prst="rect">
            <a:avLst/>
          </a:prstGeom>
          <a:noFill/>
          <a:ln>
            <a:noFill/>
          </a:ln>
        </p:spPr>
        <p:txBody>
          <a:bodyPr spcFirstLastPara="1" wrap="square" lIns="91425" tIns="45700" rIns="91425" bIns="45700" anchor="t" anchorCtr="0">
            <a:spAutoFit/>
          </a:bodyPr>
          <a:lstStyle/>
          <a:p>
            <a:pPr lvl="0" algn="ctr">
              <a:buSzPts val="1800"/>
            </a:pPr>
            <a:r>
              <a:rPr lang="en-IN" sz="4000" dirty="0">
                <a:latin typeface="Arial Black" panose="020B0A04020102020204" pitchFamily="34" charset="0"/>
              </a:rPr>
              <a:t>Grocery Store Management Using SQL</a:t>
            </a:r>
            <a:endParaRPr sz="4000" b="0" i="0" u="none" strike="noStrike" cap="none" dirty="0">
              <a:solidFill>
                <a:srgbClr val="000000"/>
              </a:solidFill>
              <a:latin typeface="Arial Black" panose="020B0A04020102020204" pitchFamily="34" charset="0"/>
              <a:sym typeface="Arial"/>
            </a:endParaRPr>
          </a:p>
        </p:txBody>
      </p:sp>
      <p:sp>
        <p:nvSpPr>
          <p:cNvPr id="2" name="TextBox 1">
            <a:extLst>
              <a:ext uri="{FF2B5EF4-FFF2-40B4-BE49-F238E27FC236}">
                <a16:creationId xmlns:a16="http://schemas.microsoft.com/office/drawing/2014/main" id="{7C0C593F-727E-1349-975E-D018F83FAFAE}"/>
              </a:ext>
            </a:extLst>
          </p:cNvPr>
          <p:cNvSpPr txBox="1"/>
          <p:nvPr/>
        </p:nvSpPr>
        <p:spPr>
          <a:xfrm>
            <a:off x="7933764" y="5647658"/>
            <a:ext cx="3352800" cy="1046440"/>
          </a:xfrm>
          <a:prstGeom prst="rect">
            <a:avLst/>
          </a:prstGeom>
          <a:noFill/>
        </p:spPr>
        <p:txBody>
          <a:bodyPr wrap="square" rtlCol="0">
            <a:spAutoFit/>
          </a:bodyPr>
          <a:lstStyle/>
          <a:p>
            <a:r>
              <a:rPr lang="en-US" sz="1600" dirty="0">
                <a:solidFill>
                  <a:srgbClr val="FF0000"/>
                </a:solidFill>
                <a:latin typeface="Arial Black" panose="020B0A04020102020204" pitchFamily="34" charset="0"/>
              </a:rPr>
              <a:t>Presented By:</a:t>
            </a:r>
          </a:p>
          <a:p>
            <a:r>
              <a:rPr lang="en-US" sz="1600" dirty="0">
                <a:solidFill>
                  <a:schemeClr val="tx1"/>
                </a:solidFill>
                <a:latin typeface="Arial Black" panose="020B0A04020102020204" pitchFamily="34" charset="0"/>
              </a:rPr>
              <a:t>Name   : Boddu Shireesha</a:t>
            </a:r>
          </a:p>
          <a:p>
            <a:r>
              <a:rPr lang="en-US" sz="1600" dirty="0">
                <a:solidFill>
                  <a:schemeClr val="tx1"/>
                </a:solidFill>
                <a:latin typeface="Arial Black" panose="020B0A04020102020204" pitchFamily="34" charset="0"/>
              </a:rPr>
              <a:t>Batch   : 456</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latin typeface="Algerian" panose="04020705040A02060702" pitchFamily="82" charset="0"/>
              </a:rPr>
              <a:t>Agenda</a:t>
            </a:r>
            <a:r>
              <a:rPr lang="en-IN" b="1" dirty="0">
                <a:solidFill>
                  <a:srgbClr val="FF0000"/>
                </a:solidFill>
              </a:rPr>
              <a:t> </a:t>
            </a:r>
            <a:endParaRPr b="1" dirty="0">
              <a:solidFill>
                <a:srgbClr val="FF0000"/>
              </a:solidFill>
            </a:endParaRPr>
          </a:p>
        </p:txBody>
      </p:sp>
      <p:sp>
        <p:nvSpPr>
          <p:cNvPr id="111" name="Google Shape;111;p4"/>
          <p:cNvSpPr txBox="1">
            <a:spLocks noGrp="1"/>
          </p:cNvSpPr>
          <p:nvPr>
            <p:ph type="body" idx="1"/>
          </p:nvPr>
        </p:nvSpPr>
        <p:spPr>
          <a:xfrm>
            <a:off x="374573" y="969484"/>
            <a:ext cx="10825907" cy="5300884"/>
          </a:xfrm>
          <a:prstGeom prst="rect">
            <a:avLst/>
          </a:prstGeom>
          <a:noFill/>
          <a:ln>
            <a:noFill/>
          </a:ln>
        </p:spPr>
        <p:txBody>
          <a:bodyPr spcFirstLastPara="1" wrap="square" lIns="91425" tIns="45700" rIns="91425" bIns="45700" anchor="t" anchorCtr="0">
            <a:noAutofit/>
          </a:bodyPr>
          <a:lstStyle/>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Introduction</a:t>
            </a:r>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Business Problem </a:t>
            </a:r>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Objective of the Project</a:t>
            </a:r>
            <a:endParaRPr sz="2000" dirty="0"/>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ER Diagram and schema explanation</a:t>
            </a:r>
          </a:p>
          <a:p>
            <a:pPr indent="-431800">
              <a:buSzPts val="2400"/>
              <a:buFont typeface="Wingdings" panose="05000000000000000000" pitchFamily="2" charset="2"/>
              <a:buChar char="Ø"/>
            </a:pPr>
            <a:r>
              <a:rPr lang="en-US" sz="2000" b="1" dirty="0"/>
              <a:t>Relationship Between The Tables</a:t>
            </a:r>
          </a:p>
          <a:p>
            <a:pPr indent="-431800">
              <a:buSzPts val="2400"/>
              <a:buFont typeface="Wingdings" panose="05000000000000000000" pitchFamily="2" charset="2"/>
              <a:buChar char="Ø"/>
            </a:pPr>
            <a:r>
              <a:rPr lang="en-IN" sz="2000" b="1" dirty="0"/>
              <a:t>Customer Insights</a:t>
            </a:r>
          </a:p>
          <a:p>
            <a:pPr indent="-431800">
              <a:buSzPts val="2400"/>
              <a:buFont typeface="Wingdings" panose="05000000000000000000" pitchFamily="2" charset="2"/>
              <a:buChar char="Ø"/>
            </a:pPr>
            <a:r>
              <a:rPr lang="en-IN" sz="2000" b="1" dirty="0"/>
              <a:t>Product Performance </a:t>
            </a:r>
          </a:p>
          <a:p>
            <a:pPr indent="-431800">
              <a:buSzPts val="2400"/>
              <a:buFont typeface="Wingdings" panose="05000000000000000000" pitchFamily="2" charset="2"/>
              <a:buChar char="Ø"/>
            </a:pPr>
            <a:r>
              <a:rPr lang="en-IN" sz="2000" b="1" dirty="0"/>
              <a:t>Sales and Order Trends </a:t>
            </a:r>
          </a:p>
          <a:p>
            <a:pPr indent="-431800">
              <a:buSzPts val="2400"/>
              <a:buFont typeface="Wingdings" panose="05000000000000000000" pitchFamily="2" charset="2"/>
              <a:buChar char="Ø"/>
            </a:pPr>
            <a:r>
              <a:rPr lang="en-IN" sz="2000" b="1" dirty="0"/>
              <a:t>Supplier Contribution </a:t>
            </a:r>
          </a:p>
          <a:p>
            <a:pPr indent="-431800">
              <a:buSzPts val="2400"/>
              <a:buFont typeface="Wingdings" panose="05000000000000000000" pitchFamily="2" charset="2"/>
              <a:buChar char="Ø"/>
            </a:pPr>
            <a:r>
              <a:rPr lang="en-IN" sz="2000" b="1" dirty="0"/>
              <a:t>Employee Performance </a:t>
            </a:r>
          </a:p>
          <a:p>
            <a:pPr indent="-431800">
              <a:buSzPts val="2400"/>
              <a:buFont typeface="Wingdings" panose="05000000000000000000" pitchFamily="2" charset="2"/>
              <a:buChar char="Ø"/>
            </a:pPr>
            <a:r>
              <a:rPr lang="en-IN" sz="2000" b="1" dirty="0"/>
              <a:t>Order Details Deep Dive </a:t>
            </a:r>
            <a:endParaRPr sz="2000" b="1" dirty="0"/>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Final business insights </a:t>
            </a:r>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Recommendations</a:t>
            </a:r>
            <a:endParaRPr sz="2000" dirty="0"/>
          </a:p>
          <a:p>
            <a:pPr marL="457200" lvl="0" indent="-431800" algn="l" rtl="0">
              <a:lnSpc>
                <a:spcPct val="90000"/>
              </a:lnSpc>
              <a:spcBef>
                <a:spcPts val="1000"/>
              </a:spcBef>
              <a:spcAft>
                <a:spcPts val="0"/>
              </a:spcAft>
              <a:buSzPts val="2400"/>
              <a:buFont typeface="Wingdings" panose="05000000000000000000" pitchFamily="2" charset="2"/>
              <a:buChar char="Ø"/>
            </a:pPr>
            <a:r>
              <a:rPr lang="en-IN" sz="2000" b="1" dirty="0"/>
              <a:t>Conclusion</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FBB616-EF0D-4EB1-69D9-4C68A09F8535}"/>
              </a:ext>
            </a:extLst>
          </p:cNvPr>
          <p:cNvSpPr txBox="1"/>
          <p:nvPr/>
        </p:nvSpPr>
        <p:spPr>
          <a:xfrm>
            <a:off x="212994" y="209322"/>
            <a:ext cx="5883006" cy="584775"/>
          </a:xfrm>
          <a:prstGeom prst="rect">
            <a:avLst/>
          </a:prstGeom>
          <a:noFill/>
        </p:spPr>
        <p:txBody>
          <a:bodyPr wrap="square" rtlCol="0">
            <a:spAutoFit/>
          </a:bodyPr>
          <a:lstStyle/>
          <a:p>
            <a:r>
              <a:rPr lang="en-IN" sz="3200" dirty="0">
                <a:solidFill>
                  <a:srgbClr val="FF0000"/>
                </a:solidFill>
                <a:latin typeface="Algerian" panose="04020705040A02060702" pitchFamily="82" charset="0"/>
              </a:rPr>
              <a:t>Business</a:t>
            </a:r>
            <a:r>
              <a:rPr lang="en-IN" sz="3200" dirty="0">
                <a:solidFill>
                  <a:srgbClr val="7030A0"/>
                </a:solidFill>
                <a:latin typeface="Algerian" panose="04020705040A02060702" pitchFamily="82" charset="0"/>
              </a:rPr>
              <a:t> </a:t>
            </a:r>
            <a:r>
              <a:rPr lang="en-IN" sz="3200" dirty="0">
                <a:solidFill>
                  <a:srgbClr val="FF0000"/>
                </a:solidFill>
                <a:latin typeface="Algerian" panose="04020705040A02060702" pitchFamily="82" charset="0"/>
              </a:rPr>
              <a:t>problem</a:t>
            </a:r>
          </a:p>
        </p:txBody>
      </p:sp>
      <p:sp>
        <p:nvSpPr>
          <p:cNvPr id="4" name="TextBox 3">
            <a:extLst>
              <a:ext uri="{FF2B5EF4-FFF2-40B4-BE49-F238E27FC236}">
                <a16:creationId xmlns:a16="http://schemas.microsoft.com/office/drawing/2014/main" id="{19F83BFB-82EC-9546-055D-CEA4DF6D56F9}"/>
              </a:ext>
            </a:extLst>
          </p:cNvPr>
          <p:cNvSpPr txBox="1"/>
          <p:nvPr/>
        </p:nvSpPr>
        <p:spPr>
          <a:xfrm>
            <a:off x="212994" y="672029"/>
            <a:ext cx="11332683" cy="6894195"/>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latin typeface="+mj-lt"/>
              </a:rPr>
              <a:t> </a:t>
            </a:r>
            <a:r>
              <a:rPr lang="en-US" sz="2400" dirty="0">
                <a:latin typeface="Calibri" panose="020F0502020204030204" pitchFamily="34" charset="0"/>
                <a:ea typeface="Calibri" panose="020F0502020204030204" pitchFamily="34" charset="0"/>
                <a:cs typeface="Calibri" panose="020F0502020204030204" pitchFamily="34" charset="0"/>
              </a:rPr>
              <a:t>The grocery store faces inconsistent revenue and excess inventory because it cannot clearly identify high-performing products and slow-moving items.</a:t>
            </a:r>
          </a:p>
          <a:p>
            <a:pPr marL="285750" indent="-285750">
              <a:buFont typeface="Wingdings" panose="05000000000000000000" pitchFamily="2" charset="2"/>
              <a:buChar char="Ø"/>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 Management lacks visibility into which customers, suppliers, and employees contribute the most to overall sales and profitability.</a:t>
            </a:r>
          </a:p>
          <a:p>
            <a:pPr marL="285750" indent="-285750">
              <a:buFont typeface="Wingdings" panose="05000000000000000000" pitchFamily="2" charset="2"/>
              <a:buChar char="Ø"/>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 Due to the absence of structured data analysis, decision-making related to inventory planning, marketing strategies, and performance evaluation is not data-driven.</a:t>
            </a:r>
          </a:p>
          <a:p>
            <a:r>
              <a:rPr lang="en-US" sz="2000" dirty="0">
                <a:solidFill>
                  <a:srgbClr val="FF0000"/>
                </a:solidFill>
                <a:latin typeface="Algerian" panose="04020705040A02060702" pitchFamily="82" charset="0"/>
              </a:rPr>
              <a:t>Business Problem Statement </a:t>
            </a:r>
            <a:endParaRPr lang="en-US" sz="2000" dirty="0">
              <a:latin typeface="+mj-lt"/>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grocery store lacked clear insights into sales performance, customer behavior, supplier contribution, and employee efficiency.</a:t>
            </a:r>
          </a:p>
          <a:p>
            <a:pPr marL="342900" indent="-342900">
              <a:buFont typeface="Wingdings" panose="05000000000000000000" pitchFamily="2" charset="2"/>
              <a:buChar char="Ø"/>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 To address this issue, I used MySQL to design a structured relational database and analyze the transactional data using SQL queries.</a:t>
            </a:r>
          </a:p>
          <a:p>
            <a:pPr marL="342900" indent="-342900">
              <a:buFont typeface="Wingdings" panose="05000000000000000000" pitchFamily="2" charset="2"/>
              <a:buChar char="Ø"/>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generated meaningful insights that support better decision-making and improve overall business performance</a:t>
            </a:r>
            <a:r>
              <a:rPr lang="en-US" sz="2400" dirty="0"/>
              <a:t>.</a:t>
            </a:r>
          </a:p>
          <a:p>
            <a:pPr marL="342900" indent="-342900">
              <a:buFont typeface="Wingdings" panose="05000000000000000000" pitchFamily="2" charset="2"/>
              <a:buChar char="Ø"/>
            </a:pPr>
            <a:endParaRPr lang="en-US" sz="2400" dirty="0">
              <a:latin typeface="+mj-lt"/>
            </a:endParaRPr>
          </a:p>
          <a:p>
            <a:endParaRPr lang="en-IN" dirty="0"/>
          </a:p>
        </p:txBody>
      </p:sp>
    </p:spTree>
    <p:extLst>
      <p:ext uri="{BB962C8B-B14F-4D97-AF65-F5344CB8AC3E}">
        <p14:creationId xmlns:p14="http://schemas.microsoft.com/office/powerpoint/2010/main" val="2486361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180B02-E037-74A8-2A15-6C890E669669}"/>
              </a:ext>
            </a:extLst>
          </p:cNvPr>
          <p:cNvSpPr txBox="1"/>
          <p:nvPr/>
        </p:nvSpPr>
        <p:spPr>
          <a:xfrm>
            <a:off x="330506" y="264406"/>
            <a:ext cx="4990641" cy="584775"/>
          </a:xfrm>
          <a:prstGeom prst="rect">
            <a:avLst/>
          </a:prstGeom>
          <a:noFill/>
        </p:spPr>
        <p:txBody>
          <a:bodyPr wrap="square" rtlCol="0">
            <a:spAutoFit/>
          </a:bodyPr>
          <a:lstStyle/>
          <a:p>
            <a:r>
              <a:rPr lang="en-IN" sz="3200" dirty="0">
                <a:solidFill>
                  <a:srgbClr val="FF0000"/>
                </a:solidFill>
                <a:latin typeface="Algerian" panose="04020705040A02060702" pitchFamily="82" charset="0"/>
              </a:rPr>
              <a:t>Introduction</a:t>
            </a:r>
          </a:p>
        </p:txBody>
      </p:sp>
      <p:sp>
        <p:nvSpPr>
          <p:cNvPr id="3" name="TextBox 2">
            <a:extLst>
              <a:ext uri="{FF2B5EF4-FFF2-40B4-BE49-F238E27FC236}">
                <a16:creationId xmlns:a16="http://schemas.microsoft.com/office/drawing/2014/main" id="{5CED2BE5-2520-CC00-C807-A3E869EF115B}"/>
              </a:ext>
            </a:extLst>
          </p:cNvPr>
          <p:cNvSpPr txBox="1"/>
          <p:nvPr/>
        </p:nvSpPr>
        <p:spPr>
          <a:xfrm>
            <a:off x="495759" y="1145755"/>
            <a:ext cx="10873648" cy="2677656"/>
          </a:xfrm>
          <a:prstGeom prst="rect">
            <a:avLst/>
          </a:prstGeom>
          <a:noFill/>
        </p:spPr>
        <p:txBody>
          <a:bodyPr wrap="squar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This project involves designing and analyzing a Grocery Store Management database using SQL. The aim is to study customer behavior, product performance, sales trends, supplier contribution, and employee efficiency to generate meaningful business insights. The analysis helps the store make better data-driven decisions to improve profitability and operations</a:t>
            </a:r>
            <a:r>
              <a:rPr lang="en-US" dirty="0"/>
              <a:t>.</a:t>
            </a:r>
            <a:endParaRPr lang="en-IN" dirty="0"/>
          </a:p>
        </p:txBody>
      </p:sp>
    </p:spTree>
    <p:extLst>
      <p:ext uri="{BB962C8B-B14F-4D97-AF65-F5344CB8AC3E}">
        <p14:creationId xmlns:p14="http://schemas.microsoft.com/office/powerpoint/2010/main" val="1072698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BB5D5-00C2-2646-C8BE-8CA41B77A277}"/>
              </a:ext>
            </a:extLst>
          </p:cNvPr>
          <p:cNvSpPr>
            <a:spLocks noGrp="1"/>
          </p:cNvSpPr>
          <p:nvPr>
            <p:ph type="title"/>
          </p:nvPr>
        </p:nvSpPr>
        <p:spPr>
          <a:xfrm>
            <a:off x="187286" y="-352539"/>
            <a:ext cx="12004713" cy="2027104"/>
          </a:xfrm>
        </p:spPr>
        <p:txBody>
          <a:bodyPr/>
          <a:lstStyle/>
          <a:p>
            <a:r>
              <a:rPr lang="en-IN" sz="3600" b="1" dirty="0">
                <a:solidFill>
                  <a:srgbClr val="FF0000"/>
                </a:solidFill>
                <a:latin typeface="Algerian" panose="04020705040A02060702" pitchFamily="82" charset="0"/>
              </a:rPr>
              <a:t>Objectives</a:t>
            </a:r>
            <a:r>
              <a:rPr lang="en-IN" b="1" dirty="0">
                <a:solidFill>
                  <a:srgbClr val="FF0000"/>
                </a:solidFill>
                <a:latin typeface="Arial Black" panose="020B0A04020102020204" pitchFamily="34" charset="0"/>
              </a:rPr>
              <a:t> </a:t>
            </a:r>
          </a:p>
        </p:txBody>
      </p:sp>
      <p:sp>
        <p:nvSpPr>
          <p:cNvPr id="3" name="Text Placeholder 2">
            <a:extLst>
              <a:ext uri="{FF2B5EF4-FFF2-40B4-BE49-F238E27FC236}">
                <a16:creationId xmlns:a16="http://schemas.microsoft.com/office/drawing/2014/main" id="{D29AA8F6-6551-DCAD-A6A9-4B42D81BF45F}"/>
              </a:ext>
            </a:extLst>
          </p:cNvPr>
          <p:cNvSpPr>
            <a:spLocks noGrp="1"/>
          </p:cNvSpPr>
          <p:nvPr>
            <p:ph type="body" idx="1"/>
          </p:nvPr>
        </p:nvSpPr>
        <p:spPr>
          <a:xfrm>
            <a:off x="88135" y="1013552"/>
            <a:ext cx="11265665" cy="5163411"/>
          </a:xfrm>
        </p:spPr>
        <p:txBody>
          <a:bodyPr/>
          <a:lstStyle/>
          <a:p>
            <a:pPr>
              <a:buFont typeface="Wingdings" panose="05000000000000000000" pitchFamily="2" charset="2"/>
              <a:buChar char="Ø"/>
            </a:pPr>
            <a:r>
              <a:rPr lang="en-US" dirty="0"/>
              <a:t>To design and implement a relational database for a grocery store using SQL.</a:t>
            </a:r>
          </a:p>
          <a:p>
            <a:pPr>
              <a:buFont typeface="Wingdings" panose="05000000000000000000" pitchFamily="2" charset="2"/>
              <a:buChar char="Ø"/>
            </a:pPr>
            <a:r>
              <a:rPr lang="en-US" dirty="0"/>
              <a:t> To analyze customer purchasing behavior and identify high-value customers.</a:t>
            </a:r>
          </a:p>
          <a:p>
            <a:pPr>
              <a:buFont typeface="Wingdings" panose="05000000000000000000" pitchFamily="2" charset="2"/>
              <a:buChar char="Ø"/>
            </a:pPr>
            <a:r>
              <a:rPr lang="en-US" dirty="0"/>
              <a:t> To evaluate product performance and identify top-selling and slow-moving products.</a:t>
            </a:r>
          </a:p>
          <a:p>
            <a:pPr>
              <a:buFont typeface="Wingdings" panose="05000000000000000000" pitchFamily="2" charset="2"/>
              <a:buChar char="Ø"/>
            </a:pPr>
            <a:r>
              <a:rPr lang="en-US" dirty="0"/>
              <a:t> To study monthly sales trends and revenue patterns.</a:t>
            </a:r>
          </a:p>
          <a:p>
            <a:pPr>
              <a:buFont typeface="Wingdings" panose="05000000000000000000" pitchFamily="2" charset="2"/>
              <a:buChar char="Ø"/>
            </a:pPr>
            <a:r>
              <a:rPr lang="en-US" dirty="0"/>
              <a:t> To assess supplier contribution to overall sales.</a:t>
            </a:r>
          </a:p>
          <a:p>
            <a:pPr>
              <a:buFont typeface="Wingdings" panose="05000000000000000000" pitchFamily="2" charset="2"/>
              <a:buChar char="Ø"/>
            </a:pPr>
            <a:r>
              <a:rPr lang="en-US" dirty="0"/>
              <a:t> To measure employee performance based on sales handled.</a:t>
            </a:r>
          </a:p>
          <a:p>
            <a:endParaRPr lang="en-IN" dirty="0"/>
          </a:p>
        </p:txBody>
      </p:sp>
    </p:spTree>
    <p:extLst>
      <p:ext uri="{BB962C8B-B14F-4D97-AF65-F5344CB8AC3E}">
        <p14:creationId xmlns:p14="http://schemas.microsoft.com/office/powerpoint/2010/main" val="3243568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1A51-F927-3DAC-2B1D-35A866139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AC174-F0F2-3F6D-148C-35227E8E608D}"/>
              </a:ext>
            </a:extLst>
          </p:cNvPr>
          <p:cNvSpPr>
            <a:spLocks noGrp="1"/>
          </p:cNvSpPr>
          <p:nvPr>
            <p:ph type="title"/>
          </p:nvPr>
        </p:nvSpPr>
        <p:spPr>
          <a:xfrm>
            <a:off x="838200" y="365125"/>
            <a:ext cx="10515600" cy="898899"/>
          </a:xfrm>
        </p:spPr>
        <p:txBody>
          <a:bodyPr>
            <a:normAutofit/>
          </a:bodyPr>
          <a:lstStyle/>
          <a:p>
            <a:r>
              <a:rPr lang="en-US" sz="4000" dirty="0">
                <a:solidFill>
                  <a:srgbClr val="FF0000"/>
                </a:solidFill>
                <a:latin typeface="Algerian" panose="04020705040A02060702" pitchFamily="82" charset="0"/>
              </a:rPr>
              <a:t>ER</a:t>
            </a:r>
            <a:r>
              <a:rPr lang="en-US" sz="4000" dirty="0">
                <a:solidFill>
                  <a:srgbClr val="7030A0"/>
                </a:solidFill>
                <a:latin typeface="Algerian" panose="04020705040A02060702" pitchFamily="82" charset="0"/>
              </a:rPr>
              <a:t> </a:t>
            </a:r>
            <a:r>
              <a:rPr lang="en-US" sz="4000" dirty="0">
                <a:solidFill>
                  <a:srgbClr val="FF0000"/>
                </a:solidFill>
                <a:latin typeface="Algerian" panose="04020705040A02060702" pitchFamily="82" charset="0"/>
              </a:rPr>
              <a:t>Diagram</a:t>
            </a:r>
            <a:endParaRPr lang="en-IN" sz="4000" dirty="0">
              <a:solidFill>
                <a:srgbClr val="FF00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27B5427-9FD9-B879-83E8-BA4ACB63B98E}"/>
              </a:ext>
            </a:extLst>
          </p:cNvPr>
          <p:cNvSpPr>
            <a:spLocks noGrp="1"/>
          </p:cNvSpPr>
          <p:nvPr>
            <p:ph type="body" idx="1"/>
          </p:nvPr>
        </p:nvSpPr>
        <p:spPr>
          <a:xfrm>
            <a:off x="838200" y="1201271"/>
            <a:ext cx="10515600" cy="4975692"/>
          </a:xfrm>
        </p:spPr>
        <p:txBody>
          <a:bodyPr/>
          <a:lstStyle/>
          <a:p>
            <a:endParaRPr lang="en-IN" dirty="0"/>
          </a:p>
        </p:txBody>
      </p:sp>
      <p:pic>
        <p:nvPicPr>
          <p:cNvPr id="8" name="Picture 7">
            <a:extLst>
              <a:ext uri="{FF2B5EF4-FFF2-40B4-BE49-F238E27FC236}">
                <a16:creationId xmlns:a16="http://schemas.microsoft.com/office/drawing/2014/main" id="{5406246B-C05D-145E-8EDB-44D34FB929E8}"/>
              </a:ext>
            </a:extLst>
          </p:cNvPr>
          <p:cNvPicPr>
            <a:picLocks noChangeAspect="1"/>
          </p:cNvPicPr>
          <p:nvPr/>
        </p:nvPicPr>
        <p:blipFill>
          <a:blip r:embed="rId3"/>
          <a:stretch>
            <a:fillRect/>
          </a:stretch>
        </p:blipFill>
        <p:spPr>
          <a:xfrm>
            <a:off x="838200" y="1201271"/>
            <a:ext cx="10608325" cy="4877051"/>
          </a:xfrm>
          <a:prstGeom prst="rect">
            <a:avLst/>
          </a:prstGeom>
        </p:spPr>
      </p:pic>
    </p:spTree>
    <p:extLst>
      <p:ext uri="{BB962C8B-B14F-4D97-AF65-F5344CB8AC3E}">
        <p14:creationId xmlns:p14="http://schemas.microsoft.com/office/powerpoint/2010/main" val="3020413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0AD4D-308C-C766-F7FB-F0064403DB8E}"/>
              </a:ext>
            </a:extLst>
          </p:cNvPr>
          <p:cNvSpPr>
            <a:spLocks noGrp="1"/>
          </p:cNvSpPr>
          <p:nvPr>
            <p:ph type="title"/>
          </p:nvPr>
        </p:nvSpPr>
        <p:spPr>
          <a:xfrm>
            <a:off x="1" y="-165253"/>
            <a:ext cx="11161058" cy="1855941"/>
          </a:xfrm>
        </p:spPr>
        <p:txBody>
          <a:bodyPr>
            <a:normAutofit/>
          </a:bodyPr>
          <a:lstStyle/>
          <a:p>
            <a:r>
              <a:rPr lang="en-US" sz="4000" dirty="0">
                <a:solidFill>
                  <a:srgbClr val="FF0000"/>
                </a:solidFill>
                <a:latin typeface="Algerian" panose="04020705040A02060702" pitchFamily="82" charset="0"/>
              </a:rPr>
              <a:t>Relationship Between The Tables</a:t>
            </a:r>
            <a:endParaRPr lang="en-IN" sz="4000" dirty="0">
              <a:solidFill>
                <a:srgbClr val="FF00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8532412-ED47-4210-FEC1-FC2C00644726}"/>
              </a:ext>
            </a:extLst>
          </p:cNvPr>
          <p:cNvSpPr>
            <a:spLocks noGrp="1"/>
          </p:cNvSpPr>
          <p:nvPr>
            <p:ph type="body" idx="1"/>
          </p:nvPr>
        </p:nvSpPr>
        <p:spPr>
          <a:xfrm>
            <a:off x="192742" y="1222872"/>
            <a:ext cx="11161058" cy="4954091"/>
          </a:xfrm>
        </p:spPr>
        <p:txBody>
          <a:bodyPr>
            <a:normAutofit/>
          </a:bodyPr>
          <a:lstStyle/>
          <a:p>
            <a:pPr>
              <a:buFont typeface="Wingdings" panose="05000000000000000000" pitchFamily="2" charset="2"/>
              <a:buChar char="Ø"/>
            </a:pPr>
            <a:r>
              <a:rPr lang="en-US" sz="3200" dirty="0"/>
              <a:t>One-to-Many from supplier to products </a:t>
            </a:r>
          </a:p>
          <a:p>
            <a:pPr>
              <a:buFont typeface="Wingdings" panose="05000000000000000000" pitchFamily="2" charset="2"/>
              <a:buChar char="Ø"/>
            </a:pPr>
            <a:r>
              <a:rPr lang="en-US" sz="3200" dirty="0"/>
              <a:t>One-to-Many from categories to products </a:t>
            </a:r>
          </a:p>
          <a:p>
            <a:pPr>
              <a:buFont typeface="Wingdings" panose="05000000000000000000" pitchFamily="2" charset="2"/>
              <a:buChar char="Ø"/>
            </a:pPr>
            <a:r>
              <a:rPr lang="en-US" sz="3200" dirty="0"/>
              <a:t>One-to-Many from products to order_details </a:t>
            </a:r>
          </a:p>
          <a:p>
            <a:pPr>
              <a:buFont typeface="Wingdings" panose="05000000000000000000" pitchFamily="2" charset="2"/>
              <a:buChar char="Ø"/>
            </a:pPr>
            <a:r>
              <a:rPr lang="en-US" sz="3200" dirty="0"/>
              <a:t>One-to-Many from orders to order_details </a:t>
            </a:r>
          </a:p>
          <a:p>
            <a:pPr>
              <a:buFont typeface="Wingdings" panose="05000000000000000000" pitchFamily="2" charset="2"/>
              <a:buChar char="Ø"/>
            </a:pPr>
            <a:r>
              <a:rPr lang="en-US" sz="3200" dirty="0"/>
              <a:t>One-to-Many from customers to orders </a:t>
            </a:r>
          </a:p>
          <a:p>
            <a:pPr>
              <a:buFont typeface="Wingdings" panose="05000000000000000000" pitchFamily="2" charset="2"/>
              <a:buChar char="Ø"/>
            </a:pPr>
            <a:r>
              <a:rPr lang="en-US" sz="3200" dirty="0"/>
              <a:t>One-to-Many from employees to orders</a:t>
            </a:r>
            <a:endParaRPr lang="en-IN" sz="3200" dirty="0"/>
          </a:p>
        </p:txBody>
      </p:sp>
    </p:spTree>
    <p:extLst>
      <p:ext uri="{BB962C8B-B14F-4D97-AF65-F5344CB8AC3E}">
        <p14:creationId xmlns:p14="http://schemas.microsoft.com/office/powerpoint/2010/main" val="2036046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561C939-2D99-3DF2-ECD7-809916FF39C3}"/>
              </a:ext>
            </a:extLst>
          </p:cNvPr>
          <p:cNvSpPr txBox="1"/>
          <p:nvPr/>
        </p:nvSpPr>
        <p:spPr>
          <a:xfrm>
            <a:off x="1056640" y="416560"/>
            <a:ext cx="9966960" cy="1200329"/>
          </a:xfrm>
          <a:prstGeom prst="rect">
            <a:avLst/>
          </a:prstGeom>
          <a:noFill/>
        </p:spPr>
        <p:txBody>
          <a:bodyPr wrap="square" rtlCol="0">
            <a:spAutoFit/>
          </a:bodyPr>
          <a:lstStyle/>
          <a:p>
            <a:pPr algn="ctr"/>
            <a:r>
              <a:rPr lang="en-IN" sz="3600" b="1" dirty="0">
                <a:solidFill>
                  <a:srgbClr val="FF0000"/>
                </a:solidFill>
                <a:latin typeface="Algerian" panose="04020705040A02060702" pitchFamily="82" charset="0"/>
              </a:rPr>
              <a:t>Customer Insights</a:t>
            </a:r>
          </a:p>
          <a:p>
            <a:pPr algn="ctr"/>
            <a:endParaRPr lang="en-IN" sz="3600" dirty="0">
              <a:solidFill>
                <a:srgbClr val="FF0000"/>
              </a:solidFill>
              <a:latin typeface="Arial Black" panose="020B0A04020102020204" pitchFamily="34" charset="0"/>
            </a:endParaRPr>
          </a:p>
        </p:txBody>
      </p:sp>
      <p:sp>
        <p:nvSpPr>
          <p:cNvPr id="8" name="TextBox 7">
            <a:extLst>
              <a:ext uri="{FF2B5EF4-FFF2-40B4-BE49-F238E27FC236}">
                <a16:creationId xmlns:a16="http://schemas.microsoft.com/office/drawing/2014/main" id="{F5F708BC-4AEA-AECE-0022-EDA8CE06F54B}"/>
              </a:ext>
            </a:extLst>
          </p:cNvPr>
          <p:cNvSpPr txBox="1"/>
          <p:nvPr/>
        </p:nvSpPr>
        <p:spPr>
          <a:xfrm>
            <a:off x="654424" y="1344706"/>
            <a:ext cx="10650070" cy="954107"/>
          </a:xfrm>
          <a:prstGeom prst="rect">
            <a:avLst/>
          </a:prstGeom>
          <a:noFill/>
        </p:spPr>
        <p:txBody>
          <a:bodyPr wrap="square" rtlCol="0">
            <a:spAutoFit/>
          </a:bodyPr>
          <a:lstStyle/>
          <a:p>
            <a:pPr marL="514350" indent="-514350">
              <a:buFont typeface="Arial" panose="020B0604020202020204" pitchFamily="34" charset="0"/>
              <a:buChar char="•"/>
            </a:pPr>
            <a:r>
              <a:rPr lang="en-US" sz="2800" dirty="0">
                <a:latin typeface="Arial Black" panose="020B0A04020102020204" pitchFamily="34" charset="0"/>
              </a:rPr>
              <a:t>Which customers have placed highest number of orders ?</a:t>
            </a:r>
            <a:endParaRPr lang="en-IN" sz="2800" dirty="0">
              <a:latin typeface="Arial Black" panose="020B0A04020102020204" pitchFamily="34" charset="0"/>
            </a:endParaRPr>
          </a:p>
        </p:txBody>
      </p:sp>
      <p:pic>
        <p:nvPicPr>
          <p:cNvPr id="3" name="Picture 2">
            <a:extLst>
              <a:ext uri="{FF2B5EF4-FFF2-40B4-BE49-F238E27FC236}">
                <a16:creationId xmlns:a16="http://schemas.microsoft.com/office/drawing/2014/main" id="{EBA9F984-F4CC-97F6-1EBB-858575491C08}"/>
              </a:ext>
            </a:extLst>
          </p:cNvPr>
          <p:cNvPicPr>
            <a:picLocks noChangeAspect="1"/>
          </p:cNvPicPr>
          <p:nvPr/>
        </p:nvPicPr>
        <p:blipFill>
          <a:blip r:embed="rId2"/>
          <a:stretch>
            <a:fillRect/>
          </a:stretch>
        </p:blipFill>
        <p:spPr>
          <a:xfrm>
            <a:off x="2776251" y="2298813"/>
            <a:ext cx="7072829" cy="3360006"/>
          </a:xfrm>
          <a:prstGeom prst="rect">
            <a:avLst/>
          </a:prstGeom>
        </p:spPr>
      </p:pic>
    </p:spTree>
    <p:extLst>
      <p:ext uri="{BB962C8B-B14F-4D97-AF65-F5344CB8AC3E}">
        <p14:creationId xmlns:p14="http://schemas.microsoft.com/office/powerpoint/2010/main" val="267920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E3C4EF-B593-74B2-9CC6-02823B63D81F}"/>
              </a:ext>
            </a:extLst>
          </p:cNvPr>
          <p:cNvSpPr>
            <a:spLocks noGrp="1"/>
          </p:cNvSpPr>
          <p:nvPr>
            <p:ph type="title" idx="4294967295"/>
          </p:nvPr>
        </p:nvSpPr>
        <p:spPr>
          <a:xfrm>
            <a:off x="995082" y="365125"/>
            <a:ext cx="9520518" cy="1325563"/>
          </a:xfrm>
        </p:spPr>
        <p:txBody>
          <a:bodyPr>
            <a:normAutofit/>
          </a:bodyPr>
          <a:lstStyle/>
          <a:p>
            <a:pPr marL="457200" indent="-457200">
              <a:buFont typeface="Arial" panose="020B0604020202020204" pitchFamily="34" charset="0"/>
              <a:buChar char="•"/>
            </a:pPr>
            <a:r>
              <a:rPr lang="en-US" sz="3200" dirty="0">
                <a:solidFill>
                  <a:schemeClr val="tx1"/>
                </a:solidFill>
                <a:latin typeface="Arial Black" panose="020B0A04020102020204" pitchFamily="34" charset="0"/>
              </a:rPr>
              <a:t> What is the total and average purchase value per customer?</a:t>
            </a:r>
            <a:endParaRPr lang="en-IN" sz="3200" dirty="0">
              <a:solidFill>
                <a:schemeClr val="tx1"/>
              </a:solidFill>
              <a:latin typeface="Arial Black" panose="020B0A04020102020204" pitchFamily="34" charset="0"/>
            </a:endParaRPr>
          </a:p>
        </p:txBody>
      </p:sp>
      <p:pic>
        <p:nvPicPr>
          <p:cNvPr id="5" name="Picture 4">
            <a:extLst>
              <a:ext uri="{FF2B5EF4-FFF2-40B4-BE49-F238E27FC236}">
                <a16:creationId xmlns:a16="http://schemas.microsoft.com/office/drawing/2014/main" id="{54CEAC04-337E-311B-5F5A-910938DB8B44}"/>
              </a:ext>
            </a:extLst>
          </p:cNvPr>
          <p:cNvPicPr>
            <a:picLocks noChangeAspect="1"/>
          </p:cNvPicPr>
          <p:nvPr/>
        </p:nvPicPr>
        <p:blipFill>
          <a:blip r:embed="rId2"/>
          <a:stretch>
            <a:fillRect/>
          </a:stretch>
        </p:blipFill>
        <p:spPr>
          <a:xfrm>
            <a:off x="1696597" y="1812745"/>
            <a:ext cx="8174515" cy="4433819"/>
          </a:xfrm>
          <a:prstGeom prst="rect">
            <a:avLst/>
          </a:prstGeom>
        </p:spPr>
      </p:pic>
    </p:spTree>
    <p:extLst>
      <p:ext uri="{BB962C8B-B14F-4D97-AF65-F5344CB8AC3E}">
        <p14:creationId xmlns:p14="http://schemas.microsoft.com/office/powerpoint/2010/main" val="294840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5CF322-E40E-C2A7-BBBE-453ACF687A7C}"/>
              </a:ext>
            </a:extLst>
          </p:cNvPr>
          <p:cNvSpPr txBox="1"/>
          <p:nvPr/>
        </p:nvSpPr>
        <p:spPr>
          <a:xfrm>
            <a:off x="905435" y="457200"/>
            <a:ext cx="1038113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 Who are the top 5 customers by total purchase amount?</a:t>
            </a:r>
            <a:endParaRPr lang="en-IN" sz="3200" dirty="0">
              <a:latin typeface="Arial Black" panose="020B0A04020102020204" pitchFamily="34" charset="0"/>
            </a:endParaRPr>
          </a:p>
        </p:txBody>
      </p:sp>
      <p:pic>
        <p:nvPicPr>
          <p:cNvPr id="4" name="Picture 3">
            <a:extLst>
              <a:ext uri="{FF2B5EF4-FFF2-40B4-BE49-F238E27FC236}">
                <a16:creationId xmlns:a16="http://schemas.microsoft.com/office/drawing/2014/main" id="{B2AEFABB-8223-C32C-2920-729AA83D1DE6}"/>
              </a:ext>
            </a:extLst>
          </p:cNvPr>
          <p:cNvPicPr>
            <a:picLocks noChangeAspect="1"/>
          </p:cNvPicPr>
          <p:nvPr/>
        </p:nvPicPr>
        <p:blipFill>
          <a:blip r:embed="rId2"/>
          <a:stretch>
            <a:fillRect/>
          </a:stretch>
        </p:blipFill>
        <p:spPr>
          <a:xfrm>
            <a:off x="1795749" y="1707614"/>
            <a:ext cx="7954179" cy="4013902"/>
          </a:xfrm>
          <a:prstGeom prst="rect">
            <a:avLst/>
          </a:prstGeom>
        </p:spPr>
      </p:pic>
    </p:spTree>
    <p:extLst>
      <p:ext uri="{BB962C8B-B14F-4D97-AF65-F5344CB8AC3E}">
        <p14:creationId xmlns:p14="http://schemas.microsoft.com/office/powerpoint/2010/main" val="790170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8D2BE-B129-029D-CB2A-3C966A80905D}"/>
              </a:ext>
            </a:extLst>
          </p:cNvPr>
          <p:cNvSpPr txBox="1"/>
          <p:nvPr/>
        </p:nvSpPr>
        <p:spPr>
          <a:xfrm>
            <a:off x="-1976879" y="510448"/>
            <a:ext cx="10425953" cy="707886"/>
          </a:xfrm>
          <a:prstGeom prst="rect">
            <a:avLst/>
          </a:prstGeom>
          <a:noFill/>
        </p:spPr>
        <p:txBody>
          <a:bodyPr wrap="square" rtlCol="0">
            <a:spAutoFit/>
          </a:bodyPr>
          <a:lstStyle/>
          <a:p>
            <a:pPr algn="ctr"/>
            <a:r>
              <a:rPr lang="en-IN" sz="4000" dirty="0">
                <a:solidFill>
                  <a:srgbClr val="FF0000"/>
                </a:solidFill>
                <a:latin typeface="Algerian" panose="04020705040A02060702" pitchFamily="82" charset="0"/>
              </a:rPr>
              <a:t>Product Performance</a:t>
            </a:r>
          </a:p>
        </p:txBody>
      </p:sp>
      <p:sp>
        <p:nvSpPr>
          <p:cNvPr id="4" name="TextBox 3">
            <a:extLst>
              <a:ext uri="{FF2B5EF4-FFF2-40B4-BE49-F238E27FC236}">
                <a16:creationId xmlns:a16="http://schemas.microsoft.com/office/drawing/2014/main" id="{5174754B-7786-619A-88A0-89AD6BAB1EB9}"/>
              </a:ext>
            </a:extLst>
          </p:cNvPr>
          <p:cNvSpPr txBox="1"/>
          <p:nvPr/>
        </p:nvSpPr>
        <p:spPr>
          <a:xfrm>
            <a:off x="352540" y="1218335"/>
            <a:ext cx="10960919"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How many products exist in each category?</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8A2B8712-0106-356F-AA54-BEE759FA8CA7}"/>
              </a:ext>
            </a:extLst>
          </p:cNvPr>
          <p:cNvPicPr>
            <a:picLocks noChangeAspect="1"/>
          </p:cNvPicPr>
          <p:nvPr/>
        </p:nvPicPr>
        <p:blipFill>
          <a:blip r:embed="rId2"/>
          <a:stretch>
            <a:fillRect/>
          </a:stretch>
        </p:blipFill>
        <p:spPr>
          <a:xfrm>
            <a:off x="859365" y="1994054"/>
            <a:ext cx="8405821" cy="3901807"/>
          </a:xfrm>
          <a:prstGeom prst="rect">
            <a:avLst/>
          </a:prstGeom>
        </p:spPr>
      </p:pic>
    </p:spTree>
    <p:extLst>
      <p:ext uri="{BB962C8B-B14F-4D97-AF65-F5344CB8AC3E}">
        <p14:creationId xmlns:p14="http://schemas.microsoft.com/office/powerpoint/2010/main" val="70123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8A0891-9084-6B44-92A6-F7F47D5D2AA4}"/>
              </a:ext>
            </a:extLst>
          </p:cNvPr>
          <p:cNvSpPr txBox="1"/>
          <p:nvPr/>
        </p:nvSpPr>
        <p:spPr>
          <a:xfrm>
            <a:off x="887506" y="457200"/>
            <a:ext cx="10452847"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average price of products by category?</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77EF8327-42D3-6B27-2AAA-437645A5939F}"/>
              </a:ext>
            </a:extLst>
          </p:cNvPr>
          <p:cNvPicPr>
            <a:picLocks noChangeAspect="1"/>
          </p:cNvPicPr>
          <p:nvPr/>
        </p:nvPicPr>
        <p:blipFill>
          <a:blip r:embed="rId2"/>
          <a:stretch>
            <a:fillRect/>
          </a:stretch>
        </p:blipFill>
        <p:spPr>
          <a:xfrm>
            <a:off x="1542361" y="1987475"/>
            <a:ext cx="8879595" cy="3972649"/>
          </a:xfrm>
          <a:prstGeom prst="rect">
            <a:avLst/>
          </a:prstGeom>
        </p:spPr>
      </p:pic>
    </p:spTree>
    <p:extLst>
      <p:ext uri="{BB962C8B-B14F-4D97-AF65-F5344CB8AC3E}">
        <p14:creationId xmlns:p14="http://schemas.microsoft.com/office/powerpoint/2010/main" val="306616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3B4CC3-598C-E2C6-4252-BCE28AC5CE25}"/>
              </a:ext>
            </a:extLst>
          </p:cNvPr>
          <p:cNvSpPr txBox="1"/>
          <p:nvPr/>
        </p:nvSpPr>
        <p:spPr>
          <a:xfrm>
            <a:off x="887506" y="367553"/>
            <a:ext cx="10416988" cy="1077218"/>
          </a:xfrm>
          <a:prstGeom prst="rect">
            <a:avLst/>
          </a:prstGeom>
          <a:noFill/>
        </p:spPr>
        <p:txBody>
          <a:bodyPr wrap="square" rtlCol="0">
            <a:spAutoFit/>
          </a:bodyPr>
          <a:lstStyle/>
          <a:p>
            <a:pPr marL="457200" indent="-457200">
              <a:buFont typeface="Arial" panose="020B0604020202020204" pitchFamily="34" charset="0"/>
              <a:buChar char="•"/>
            </a:pPr>
            <a:r>
              <a:rPr lang="en-US" sz="3200" b="1" dirty="0">
                <a:latin typeface="Arial Black" panose="020B0A04020102020204" pitchFamily="34" charset="0"/>
              </a:rPr>
              <a:t>Which products have the highest total sales volume (by quantity)?</a:t>
            </a:r>
            <a:endParaRPr lang="en-IN" sz="3200" b="1" dirty="0">
              <a:latin typeface="Arial Black" panose="020B0A04020102020204" pitchFamily="34" charset="0"/>
            </a:endParaRPr>
          </a:p>
        </p:txBody>
      </p:sp>
      <p:pic>
        <p:nvPicPr>
          <p:cNvPr id="5" name="Picture 4">
            <a:extLst>
              <a:ext uri="{FF2B5EF4-FFF2-40B4-BE49-F238E27FC236}">
                <a16:creationId xmlns:a16="http://schemas.microsoft.com/office/drawing/2014/main" id="{B642E034-04CD-2BA7-DAF9-BF6F9BC8C079}"/>
              </a:ext>
            </a:extLst>
          </p:cNvPr>
          <p:cNvPicPr>
            <a:picLocks noChangeAspect="1"/>
          </p:cNvPicPr>
          <p:nvPr/>
        </p:nvPicPr>
        <p:blipFill>
          <a:blip r:embed="rId2"/>
          <a:stretch>
            <a:fillRect/>
          </a:stretch>
        </p:blipFill>
        <p:spPr>
          <a:xfrm>
            <a:off x="1233889" y="1653458"/>
            <a:ext cx="8571123" cy="4057859"/>
          </a:xfrm>
          <a:prstGeom prst="rect">
            <a:avLst/>
          </a:prstGeom>
        </p:spPr>
      </p:pic>
    </p:spTree>
    <p:extLst>
      <p:ext uri="{BB962C8B-B14F-4D97-AF65-F5344CB8AC3E}">
        <p14:creationId xmlns:p14="http://schemas.microsoft.com/office/powerpoint/2010/main" val="287741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CEFAC-F8BE-2633-9F58-95C22E153CEC}"/>
              </a:ext>
            </a:extLst>
          </p:cNvPr>
          <p:cNvSpPr txBox="1"/>
          <p:nvPr/>
        </p:nvSpPr>
        <p:spPr>
          <a:xfrm>
            <a:off x="914400" y="259976"/>
            <a:ext cx="10390094"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How do product sales vary by category and supplier?</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01ABCA0B-075B-9EAB-B4BB-2D80BCE4FB84}"/>
              </a:ext>
            </a:extLst>
          </p:cNvPr>
          <p:cNvPicPr>
            <a:picLocks noChangeAspect="1"/>
          </p:cNvPicPr>
          <p:nvPr/>
        </p:nvPicPr>
        <p:blipFill>
          <a:blip r:embed="rId2"/>
          <a:stretch>
            <a:fillRect/>
          </a:stretch>
        </p:blipFill>
        <p:spPr>
          <a:xfrm>
            <a:off x="1344057" y="1736589"/>
            <a:ext cx="8527055" cy="3759393"/>
          </a:xfrm>
          <a:prstGeom prst="rect">
            <a:avLst/>
          </a:prstGeom>
        </p:spPr>
      </p:pic>
    </p:spTree>
    <p:extLst>
      <p:ext uri="{BB962C8B-B14F-4D97-AF65-F5344CB8AC3E}">
        <p14:creationId xmlns:p14="http://schemas.microsoft.com/office/powerpoint/2010/main" val="414698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1736C2-C892-B037-5815-AE628681813D}"/>
              </a:ext>
            </a:extLst>
          </p:cNvPr>
          <p:cNvSpPr txBox="1"/>
          <p:nvPr/>
        </p:nvSpPr>
        <p:spPr>
          <a:xfrm>
            <a:off x="878541" y="295835"/>
            <a:ext cx="10408024"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total revenue generated by each product?</a:t>
            </a:r>
            <a:endParaRPr lang="en-IN" sz="3200" dirty="0">
              <a:latin typeface="Arial Black" panose="020B0A04020102020204" pitchFamily="34" charset="0"/>
            </a:endParaRPr>
          </a:p>
        </p:txBody>
      </p:sp>
      <p:pic>
        <p:nvPicPr>
          <p:cNvPr id="3" name="Picture 2">
            <a:extLst>
              <a:ext uri="{FF2B5EF4-FFF2-40B4-BE49-F238E27FC236}">
                <a16:creationId xmlns:a16="http://schemas.microsoft.com/office/drawing/2014/main" id="{82141CD8-CB5B-E955-8034-2BBF4D85608E}"/>
              </a:ext>
            </a:extLst>
          </p:cNvPr>
          <p:cNvPicPr>
            <a:picLocks noChangeAspect="1"/>
          </p:cNvPicPr>
          <p:nvPr/>
        </p:nvPicPr>
        <p:blipFill>
          <a:blip r:embed="rId2"/>
          <a:stretch>
            <a:fillRect/>
          </a:stretch>
        </p:blipFill>
        <p:spPr>
          <a:xfrm>
            <a:off x="1057619" y="1696419"/>
            <a:ext cx="8934679" cy="4241673"/>
          </a:xfrm>
          <a:prstGeom prst="rect">
            <a:avLst/>
          </a:prstGeom>
        </p:spPr>
      </p:pic>
    </p:spTree>
    <p:extLst>
      <p:ext uri="{BB962C8B-B14F-4D97-AF65-F5344CB8AC3E}">
        <p14:creationId xmlns:p14="http://schemas.microsoft.com/office/powerpoint/2010/main" val="3288485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DDF810-8672-1C16-5B41-8BE4F5FB8AB5}"/>
              </a:ext>
            </a:extLst>
          </p:cNvPr>
          <p:cNvSpPr txBox="1"/>
          <p:nvPr/>
        </p:nvSpPr>
        <p:spPr>
          <a:xfrm>
            <a:off x="887506" y="188259"/>
            <a:ext cx="10399059" cy="584775"/>
          </a:xfrm>
          <a:prstGeom prst="rect">
            <a:avLst/>
          </a:prstGeom>
          <a:noFill/>
        </p:spPr>
        <p:txBody>
          <a:bodyPr wrap="square" rtlCol="0">
            <a:spAutoFit/>
          </a:bodyPr>
          <a:lstStyle/>
          <a:p>
            <a:pPr algn="ctr"/>
            <a:r>
              <a:rPr lang="en-IN" sz="3200" dirty="0">
                <a:solidFill>
                  <a:srgbClr val="FF0000"/>
                </a:solidFill>
                <a:latin typeface="Algerian" panose="04020705040A02060702" pitchFamily="82" charset="0"/>
              </a:rPr>
              <a:t>Sales and Order Trends</a:t>
            </a:r>
          </a:p>
        </p:txBody>
      </p:sp>
      <p:sp>
        <p:nvSpPr>
          <p:cNvPr id="3" name="TextBox 2">
            <a:extLst>
              <a:ext uri="{FF2B5EF4-FFF2-40B4-BE49-F238E27FC236}">
                <a16:creationId xmlns:a16="http://schemas.microsoft.com/office/drawing/2014/main" id="{E7F7EE2A-C00C-D5C6-28A1-0E5BC76FE9B6}"/>
              </a:ext>
            </a:extLst>
          </p:cNvPr>
          <p:cNvSpPr txBox="1"/>
          <p:nvPr/>
        </p:nvSpPr>
        <p:spPr>
          <a:xfrm>
            <a:off x="887506" y="959224"/>
            <a:ext cx="10838329" cy="58477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average value per order?</a:t>
            </a:r>
            <a:endParaRPr lang="en-IN" sz="3200" dirty="0">
              <a:latin typeface="Arial Black" panose="020B0A04020102020204" pitchFamily="34" charset="0"/>
            </a:endParaRPr>
          </a:p>
        </p:txBody>
      </p:sp>
      <p:pic>
        <p:nvPicPr>
          <p:cNvPr id="6" name="Picture 5">
            <a:extLst>
              <a:ext uri="{FF2B5EF4-FFF2-40B4-BE49-F238E27FC236}">
                <a16:creationId xmlns:a16="http://schemas.microsoft.com/office/drawing/2014/main" id="{B1D3619C-8FD0-E94A-30C8-39C4E4ABF120}"/>
              </a:ext>
            </a:extLst>
          </p:cNvPr>
          <p:cNvPicPr>
            <a:picLocks noChangeAspect="1"/>
          </p:cNvPicPr>
          <p:nvPr/>
        </p:nvPicPr>
        <p:blipFill>
          <a:blip r:embed="rId2"/>
          <a:stretch>
            <a:fillRect/>
          </a:stretch>
        </p:blipFill>
        <p:spPr>
          <a:xfrm>
            <a:off x="2181340" y="1836876"/>
            <a:ext cx="6051207" cy="3797495"/>
          </a:xfrm>
          <a:prstGeom prst="rect">
            <a:avLst/>
          </a:prstGeom>
        </p:spPr>
      </p:pic>
    </p:spTree>
    <p:extLst>
      <p:ext uri="{BB962C8B-B14F-4D97-AF65-F5344CB8AC3E}">
        <p14:creationId xmlns:p14="http://schemas.microsoft.com/office/powerpoint/2010/main" val="3417000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23532A-22AD-F973-3D88-957FD44ABBC3}"/>
              </a:ext>
            </a:extLst>
          </p:cNvPr>
          <p:cNvSpPr txBox="1"/>
          <p:nvPr/>
        </p:nvSpPr>
        <p:spPr>
          <a:xfrm>
            <a:off x="896471" y="457200"/>
            <a:ext cx="10408023"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On which dates were the most orders placed? </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23FBF757-BC89-40C6-B2A7-7C1F93FB7D49}"/>
              </a:ext>
            </a:extLst>
          </p:cNvPr>
          <p:cNvPicPr>
            <a:picLocks noChangeAspect="1"/>
          </p:cNvPicPr>
          <p:nvPr/>
        </p:nvPicPr>
        <p:blipFill>
          <a:blip r:embed="rId2"/>
          <a:stretch>
            <a:fillRect/>
          </a:stretch>
        </p:blipFill>
        <p:spPr>
          <a:xfrm>
            <a:off x="1509313" y="1685581"/>
            <a:ext cx="6180462" cy="3249977"/>
          </a:xfrm>
          <a:prstGeom prst="rect">
            <a:avLst/>
          </a:prstGeom>
        </p:spPr>
      </p:pic>
    </p:spTree>
    <p:extLst>
      <p:ext uri="{BB962C8B-B14F-4D97-AF65-F5344CB8AC3E}">
        <p14:creationId xmlns:p14="http://schemas.microsoft.com/office/powerpoint/2010/main" val="2006262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A0DC6D-6060-9D8C-1757-3C91083061C4}"/>
              </a:ext>
            </a:extLst>
          </p:cNvPr>
          <p:cNvSpPr txBox="1"/>
          <p:nvPr/>
        </p:nvSpPr>
        <p:spPr>
          <a:xfrm>
            <a:off x="905435" y="251012"/>
            <a:ext cx="10416989" cy="584775"/>
          </a:xfrm>
          <a:prstGeom prst="rect">
            <a:avLst/>
          </a:prstGeom>
          <a:noFill/>
        </p:spPr>
        <p:txBody>
          <a:bodyPr wrap="square" rtlCol="0">
            <a:spAutoFit/>
          </a:bodyPr>
          <a:lstStyle/>
          <a:p>
            <a:pPr algn="ctr"/>
            <a:r>
              <a:rPr lang="en-IN" sz="3200" dirty="0">
                <a:solidFill>
                  <a:srgbClr val="FF0000"/>
                </a:solidFill>
                <a:latin typeface="Algerian" panose="04020705040A02060702" pitchFamily="82" charset="0"/>
              </a:rPr>
              <a:t>Supplier Contribution </a:t>
            </a:r>
          </a:p>
        </p:txBody>
      </p:sp>
      <p:sp>
        <p:nvSpPr>
          <p:cNvPr id="3" name="TextBox 2">
            <a:extLst>
              <a:ext uri="{FF2B5EF4-FFF2-40B4-BE49-F238E27FC236}">
                <a16:creationId xmlns:a16="http://schemas.microsoft.com/office/drawing/2014/main" id="{E6CE5430-D5F8-8B2D-4038-2E2BB60685A6}"/>
              </a:ext>
            </a:extLst>
          </p:cNvPr>
          <p:cNvSpPr txBox="1"/>
          <p:nvPr/>
        </p:nvSpPr>
        <p:spPr>
          <a:xfrm>
            <a:off x="905435" y="835787"/>
            <a:ext cx="10416989" cy="584775"/>
          </a:xfrm>
          <a:prstGeom prst="rect">
            <a:avLst/>
          </a:prstGeom>
          <a:noFill/>
        </p:spPr>
        <p:txBody>
          <a:bodyPr wrap="square" rtlCol="0">
            <a:spAutoFit/>
          </a:bodyPr>
          <a:lstStyle/>
          <a:p>
            <a:pPr marL="285750" indent="-285750">
              <a:buFont typeface="Arial" panose="020B0604020202020204" pitchFamily="34" charset="0"/>
              <a:buChar char="•"/>
            </a:pPr>
            <a:r>
              <a:rPr lang="en-US" sz="3200" b="1" dirty="0">
                <a:latin typeface="Arial Black" panose="020B0A04020102020204" pitchFamily="34" charset="0"/>
              </a:rPr>
              <a:t>Which supplier provides the most products? </a:t>
            </a:r>
            <a:endParaRPr lang="en-IN" sz="3200" b="1" dirty="0">
              <a:latin typeface="Arial Black" panose="020B0A04020102020204" pitchFamily="34" charset="0"/>
            </a:endParaRPr>
          </a:p>
        </p:txBody>
      </p:sp>
      <p:pic>
        <p:nvPicPr>
          <p:cNvPr id="6" name="Picture 5">
            <a:extLst>
              <a:ext uri="{FF2B5EF4-FFF2-40B4-BE49-F238E27FC236}">
                <a16:creationId xmlns:a16="http://schemas.microsoft.com/office/drawing/2014/main" id="{1E5F2272-E740-6CE3-58A9-4DFD3B304C67}"/>
              </a:ext>
            </a:extLst>
          </p:cNvPr>
          <p:cNvPicPr>
            <a:picLocks noChangeAspect="1"/>
          </p:cNvPicPr>
          <p:nvPr/>
        </p:nvPicPr>
        <p:blipFill>
          <a:blip r:embed="rId2"/>
          <a:stretch>
            <a:fillRect/>
          </a:stretch>
        </p:blipFill>
        <p:spPr>
          <a:xfrm>
            <a:off x="1432194" y="1816017"/>
            <a:ext cx="5610390" cy="3225966"/>
          </a:xfrm>
          <a:prstGeom prst="rect">
            <a:avLst/>
          </a:prstGeom>
        </p:spPr>
      </p:pic>
    </p:spTree>
    <p:extLst>
      <p:ext uri="{BB962C8B-B14F-4D97-AF65-F5344CB8AC3E}">
        <p14:creationId xmlns:p14="http://schemas.microsoft.com/office/powerpoint/2010/main" val="2209770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594897-72C3-EDC5-70EB-EBC776DACEA2}"/>
              </a:ext>
            </a:extLst>
          </p:cNvPr>
          <p:cNvSpPr txBox="1"/>
          <p:nvPr/>
        </p:nvSpPr>
        <p:spPr>
          <a:xfrm>
            <a:off x="896471" y="295835"/>
            <a:ext cx="10408023"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average price of products from each supplier?</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4BD3BA40-3605-163A-AEAD-3BC1843A4F37}"/>
              </a:ext>
            </a:extLst>
          </p:cNvPr>
          <p:cNvPicPr>
            <a:picLocks noChangeAspect="1"/>
          </p:cNvPicPr>
          <p:nvPr/>
        </p:nvPicPr>
        <p:blipFill>
          <a:blip r:embed="rId2"/>
          <a:stretch>
            <a:fillRect/>
          </a:stretch>
        </p:blipFill>
        <p:spPr>
          <a:xfrm>
            <a:off x="1663547" y="1987475"/>
            <a:ext cx="6466901" cy="3719261"/>
          </a:xfrm>
          <a:prstGeom prst="rect">
            <a:avLst/>
          </a:prstGeom>
        </p:spPr>
      </p:pic>
    </p:spTree>
    <p:extLst>
      <p:ext uri="{BB962C8B-B14F-4D97-AF65-F5344CB8AC3E}">
        <p14:creationId xmlns:p14="http://schemas.microsoft.com/office/powerpoint/2010/main" val="4121406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044651-681D-E5CE-3756-3F61F83D062B}"/>
              </a:ext>
            </a:extLst>
          </p:cNvPr>
          <p:cNvSpPr txBox="1"/>
          <p:nvPr/>
        </p:nvSpPr>
        <p:spPr>
          <a:xfrm>
            <a:off x="869576" y="251012"/>
            <a:ext cx="10470777" cy="1077218"/>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Arial Black" panose="020B0A04020102020204" pitchFamily="34" charset="0"/>
              </a:rPr>
              <a:t>Which suppliers contribute the most to total product sales (by revenue)</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D3041E07-25BE-45D1-CF6A-06A56567238F}"/>
              </a:ext>
            </a:extLst>
          </p:cNvPr>
          <p:cNvPicPr>
            <a:picLocks noChangeAspect="1"/>
          </p:cNvPicPr>
          <p:nvPr/>
        </p:nvPicPr>
        <p:blipFill>
          <a:blip r:embed="rId2"/>
          <a:stretch>
            <a:fillRect/>
          </a:stretch>
        </p:blipFill>
        <p:spPr>
          <a:xfrm>
            <a:off x="1983036" y="1809667"/>
            <a:ext cx="6951643" cy="3720800"/>
          </a:xfrm>
          <a:prstGeom prst="rect">
            <a:avLst/>
          </a:prstGeom>
        </p:spPr>
      </p:pic>
    </p:spTree>
    <p:extLst>
      <p:ext uri="{BB962C8B-B14F-4D97-AF65-F5344CB8AC3E}">
        <p14:creationId xmlns:p14="http://schemas.microsoft.com/office/powerpoint/2010/main" val="3532217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0DAB6A-6F67-89F8-5927-AEE1077F00BC}"/>
              </a:ext>
            </a:extLst>
          </p:cNvPr>
          <p:cNvSpPr txBox="1"/>
          <p:nvPr/>
        </p:nvSpPr>
        <p:spPr>
          <a:xfrm>
            <a:off x="-2184147" y="277125"/>
            <a:ext cx="10434918" cy="584775"/>
          </a:xfrm>
          <a:prstGeom prst="rect">
            <a:avLst/>
          </a:prstGeom>
          <a:noFill/>
        </p:spPr>
        <p:txBody>
          <a:bodyPr wrap="square" rtlCol="0">
            <a:spAutoFit/>
          </a:bodyPr>
          <a:lstStyle/>
          <a:p>
            <a:pPr algn="ctr"/>
            <a:r>
              <a:rPr lang="en-IN" sz="3200" dirty="0">
                <a:solidFill>
                  <a:srgbClr val="FF0000"/>
                </a:solidFill>
                <a:latin typeface="Algerian" panose="04020705040A02060702" pitchFamily="82" charset="0"/>
              </a:rPr>
              <a:t>Employee Performance</a:t>
            </a:r>
          </a:p>
        </p:txBody>
      </p:sp>
      <p:sp>
        <p:nvSpPr>
          <p:cNvPr id="3" name="TextBox 2">
            <a:extLst>
              <a:ext uri="{FF2B5EF4-FFF2-40B4-BE49-F238E27FC236}">
                <a16:creationId xmlns:a16="http://schemas.microsoft.com/office/drawing/2014/main" id="{7A7641C3-F0BB-B39D-51E7-D805368A6F7F}"/>
              </a:ext>
            </a:extLst>
          </p:cNvPr>
          <p:cNvSpPr txBox="1"/>
          <p:nvPr/>
        </p:nvSpPr>
        <p:spPr>
          <a:xfrm>
            <a:off x="878541" y="1030941"/>
            <a:ext cx="10434918" cy="1077218"/>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Arial Black" panose="020B0A04020102020204" pitchFamily="34" charset="0"/>
              </a:rPr>
              <a:t>Which employees have handled the most orders?</a:t>
            </a:r>
            <a:endParaRPr lang="en-IN" sz="3200" dirty="0">
              <a:latin typeface="Arial Black" panose="020B0A04020102020204" pitchFamily="34" charset="0"/>
            </a:endParaRPr>
          </a:p>
        </p:txBody>
      </p:sp>
      <p:pic>
        <p:nvPicPr>
          <p:cNvPr id="6" name="Picture 5">
            <a:extLst>
              <a:ext uri="{FF2B5EF4-FFF2-40B4-BE49-F238E27FC236}">
                <a16:creationId xmlns:a16="http://schemas.microsoft.com/office/drawing/2014/main" id="{85858D69-8E38-A474-41B5-DA42EDBB913C}"/>
              </a:ext>
            </a:extLst>
          </p:cNvPr>
          <p:cNvPicPr>
            <a:picLocks noChangeAspect="1"/>
          </p:cNvPicPr>
          <p:nvPr/>
        </p:nvPicPr>
        <p:blipFill>
          <a:blip r:embed="rId2"/>
          <a:stretch>
            <a:fillRect/>
          </a:stretch>
        </p:blipFill>
        <p:spPr>
          <a:xfrm>
            <a:off x="1828800" y="2446240"/>
            <a:ext cx="6764357" cy="3067208"/>
          </a:xfrm>
          <a:prstGeom prst="rect">
            <a:avLst/>
          </a:prstGeom>
        </p:spPr>
      </p:pic>
    </p:spTree>
    <p:extLst>
      <p:ext uri="{BB962C8B-B14F-4D97-AF65-F5344CB8AC3E}">
        <p14:creationId xmlns:p14="http://schemas.microsoft.com/office/powerpoint/2010/main" val="198342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399DBB-1E1F-5725-42CB-3DE12DAEAFDC}"/>
              </a:ext>
            </a:extLst>
          </p:cNvPr>
          <p:cNvSpPr txBox="1"/>
          <p:nvPr/>
        </p:nvSpPr>
        <p:spPr>
          <a:xfrm>
            <a:off x="878541" y="313765"/>
            <a:ext cx="10452847"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total sales value processed by each employee? </a:t>
            </a:r>
            <a:endParaRPr lang="en-IN" sz="3200" dirty="0">
              <a:latin typeface="Arial Black" panose="020B0A04020102020204" pitchFamily="34" charset="0"/>
            </a:endParaRPr>
          </a:p>
        </p:txBody>
      </p:sp>
      <p:pic>
        <p:nvPicPr>
          <p:cNvPr id="4" name="Picture 3">
            <a:extLst>
              <a:ext uri="{FF2B5EF4-FFF2-40B4-BE49-F238E27FC236}">
                <a16:creationId xmlns:a16="http://schemas.microsoft.com/office/drawing/2014/main" id="{DCE8A148-4636-A56B-805D-E86FAD8FE23F}"/>
              </a:ext>
            </a:extLst>
          </p:cNvPr>
          <p:cNvPicPr>
            <a:picLocks noChangeAspect="1"/>
          </p:cNvPicPr>
          <p:nvPr/>
        </p:nvPicPr>
        <p:blipFill>
          <a:blip r:embed="rId2"/>
          <a:stretch>
            <a:fillRect/>
          </a:stretch>
        </p:blipFill>
        <p:spPr>
          <a:xfrm>
            <a:off x="2880864" y="1665192"/>
            <a:ext cx="6430272" cy="4029637"/>
          </a:xfrm>
          <a:prstGeom prst="rect">
            <a:avLst/>
          </a:prstGeom>
        </p:spPr>
      </p:pic>
    </p:spTree>
    <p:extLst>
      <p:ext uri="{BB962C8B-B14F-4D97-AF65-F5344CB8AC3E}">
        <p14:creationId xmlns:p14="http://schemas.microsoft.com/office/powerpoint/2010/main" val="4155093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0F2CCE-E7EB-8D1F-3E7F-933048A01387}"/>
              </a:ext>
            </a:extLst>
          </p:cNvPr>
          <p:cNvSpPr txBox="1"/>
          <p:nvPr/>
        </p:nvSpPr>
        <p:spPr>
          <a:xfrm>
            <a:off x="896471" y="340659"/>
            <a:ext cx="10408023"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average order value handled per employee?</a:t>
            </a:r>
            <a:endParaRPr lang="en-IN" sz="3200" dirty="0">
              <a:latin typeface="Arial Black" panose="020B0A04020102020204" pitchFamily="34" charset="0"/>
            </a:endParaRPr>
          </a:p>
        </p:txBody>
      </p:sp>
      <p:pic>
        <p:nvPicPr>
          <p:cNvPr id="6" name="Picture 5">
            <a:extLst>
              <a:ext uri="{FF2B5EF4-FFF2-40B4-BE49-F238E27FC236}">
                <a16:creationId xmlns:a16="http://schemas.microsoft.com/office/drawing/2014/main" id="{CBF8F977-354E-480E-A8C3-374A0F4F4B4B}"/>
              </a:ext>
            </a:extLst>
          </p:cNvPr>
          <p:cNvPicPr>
            <a:picLocks noChangeAspect="1"/>
          </p:cNvPicPr>
          <p:nvPr/>
        </p:nvPicPr>
        <p:blipFill>
          <a:blip r:embed="rId2"/>
          <a:stretch>
            <a:fillRect/>
          </a:stretch>
        </p:blipFill>
        <p:spPr>
          <a:xfrm>
            <a:off x="3099968" y="1629895"/>
            <a:ext cx="5992061" cy="4010585"/>
          </a:xfrm>
          <a:prstGeom prst="rect">
            <a:avLst/>
          </a:prstGeom>
        </p:spPr>
      </p:pic>
    </p:spTree>
    <p:extLst>
      <p:ext uri="{BB962C8B-B14F-4D97-AF65-F5344CB8AC3E}">
        <p14:creationId xmlns:p14="http://schemas.microsoft.com/office/powerpoint/2010/main" val="1483172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288825-936E-3F33-0BAD-8E0F8ABEDE41}"/>
              </a:ext>
            </a:extLst>
          </p:cNvPr>
          <p:cNvSpPr txBox="1"/>
          <p:nvPr/>
        </p:nvSpPr>
        <p:spPr>
          <a:xfrm>
            <a:off x="905435" y="268941"/>
            <a:ext cx="10372165" cy="584775"/>
          </a:xfrm>
          <a:prstGeom prst="rect">
            <a:avLst/>
          </a:prstGeom>
          <a:noFill/>
        </p:spPr>
        <p:txBody>
          <a:bodyPr wrap="square" rtlCol="0">
            <a:spAutoFit/>
          </a:bodyPr>
          <a:lstStyle/>
          <a:p>
            <a:r>
              <a:rPr lang="en-IN" sz="3200" dirty="0">
                <a:solidFill>
                  <a:srgbClr val="FF0000"/>
                </a:solidFill>
                <a:latin typeface="Algerian" panose="04020705040A02060702" pitchFamily="82" charset="0"/>
              </a:rPr>
              <a:t>Order Details Deep Dive</a:t>
            </a:r>
          </a:p>
        </p:txBody>
      </p:sp>
      <p:sp>
        <p:nvSpPr>
          <p:cNvPr id="3" name="TextBox 2">
            <a:extLst>
              <a:ext uri="{FF2B5EF4-FFF2-40B4-BE49-F238E27FC236}">
                <a16:creationId xmlns:a16="http://schemas.microsoft.com/office/drawing/2014/main" id="{0A4FBDD1-6383-86AE-1862-2DE4B468C417}"/>
              </a:ext>
            </a:extLst>
          </p:cNvPr>
          <p:cNvSpPr txBox="1"/>
          <p:nvPr/>
        </p:nvSpPr>
        <p:spPr>
          <a:xfrm>
            <a:off x="905435" y="1111624"/>
            <a:ext cx="10434918"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relationship between quantity ordered and total price? </a:t>
            </a:r>
            <a:endParaRPr lang="en-IN" sz="3200" dirty="0">
              <a:latin typeface="Arial Black" panose="020B0A04020102020204" pitchFamily="34" charset="0"/>
            </a:endParaRPr>
          </a:p>
        </p:txBody>
      </p:sp>
      <p:pic>
        <p:nvPicPr>
          <p:cNvPr id="7" name="Picture 6">
            <a:extLst>
              <a:ext uri="{FF2B5EF4-FFF2-40B4-BE49-F238E27FC236}">
                <a16:creationId xmlns:a16="http://schemas.microsoft.com/office/drawing/2014/main" id="{75F1DAA2-EAF9-D7CD-3660-F6D0206CACA7}"/>
              </a:ext>
            </a:extLst>
          </p:cNvPr>
          <p:cNvPicPr>
            <a:picLocks noChangeAspect="1"/>
          </p:cNvPicPr>
          <p:nvPr/>
        </p:nvPicPr>
        <p:blipFill>
          <a:blip r:embed="rId2"/>
          <a:stretch>
            <a:fillRect/>
          </a:stretch>
        </p:blipFill>
        <p:spPr>
          <a:xfrm>
            <a:off x="3503153" y="2446750"/>
            <a:ext cx="5239481" cy="2810267"/>
          </a:xfrm>
          <a:prstGeom prst="rect">
            <a:avLst/>
          </a:prstGeom>
        </p:spPr>
      </p:pic>
    </p:spTree>
    <p:extLst>
      <p:ext uri="{BB962C8B-B14F-4D97-AF65-F5344CB8AC3E}">
        <p14:creationId xmlns:p14="http://schemas.microsoft.com/office/powerpoint/2010/main" val="1464336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FFC5DA-39A9-6238-63E4-0B57B797D694}"/>
              </a:ext>
            </a:extLst>
          </p:cNvPr>
          <p:cNvSpPr txBox="1"/>
          <p:nvPr/>
        </p:nvSpPr>
        <p:spPr>
          <a:xfrm>
            <a:off x="887506" y="376518"/>
            <a:ext cx="10434918"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What is the average quantity ordered per product?</a:t>
            </a:r>
            <a:endParaRPr lang="en-IN" sz="3200" dirty="0">
              <a:latin typeface="Arial Black" panose="020B0A04020102020204" pitchFamily="34" charset="0"/>
            </a:endParaRPr>
          </a:p>
        </p:txBody>
      </p:sp>
      <p:pic>
        <p:nvPicPr>
          <p:cNvPr id="5" name="Picture 4">
            <a:extLst>
              <a:ext uri="{FF2B5EF4-FFF2-40B4-BE49-F238E27FC236}">
                <a16:creationId xmlns:a16="http://schemas.microsoft.com/office/drawing/2014/main" id="{CB2DCECD-3B7A-0849-0F46-F013228B6300}"/>
              </a:ext>
            </a:extLst>
          </p:cNvPr>
          <p:cNvPicPr>
            <a:picLocks noChangeAspect="1"/>
          </p:cNvPicPr>
          <p:nvPr/>
        </p:nvPicPr>
        <p:blipFill>
          <a:blip r:embed="rId2"/>
          <a:stretch>
            <a:fillRect/>
          </a:stretch>
        </p:blipFill>
        <p:spPr>
          <a:xfrm>
            <a:off x="1630497" y="1698969"/>
            <a:ext cx="5944696" cy="2997354"/>
          </a:xfrm>
          <a:prstGeom prst="rect">
            <a:avLst/>
          </a:prstGeom>
        </p:spPr>
      </p:pic>
    </p:spTree>
    <p:extLst>
      <p:ext uri="{BB962C8B-B14F-4D97-AF65-F5344CB8AC3E}">
        <p14:creationId xmlns:p14="http://schemas.microsoft.com/office/powerpoint/2010/main" val="3174871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E00C15-ACAF-654C-1140-34FCA2DB049B}"/>
              </a:ext>
            </a:extLst>
          </p:cNvPr>
          <p:cNvSpPr txBox="1"/>
          <p:nvPr/>
        </p:nvSpPr>
        <p:spPr>
          <a:xfrm>
            <a:off x="905435" y="412376"/>
            <a:ext cx="10408024"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Arial Black" panose="020B0A04020102020204" pitchFamily="34" charset="0"/>
              </a:rPr>
              <a:t>How does the unit price vary across products and orders?</a:t>
            </a:r>
            <a:endParaRPr lang="en-IN" sz="3200" dirty="0">
              <a:latin typeface="Arial Black" panose="020B0A04020102020204" pitchFamily="34" charset="0"/>
            </a:endParaRPr>
          </a:p>
        </p:txBody>
      </p:sp>
      <p:sp>
        <p:nvSpPr>
          <p:cNvPr id="4" name="TextBox 3">
            <a:extLst>
              <a:ext uri="{FF2B5EF4-FFF2-40B4-BE49-F238E27FC236}">
                <a16:creationId xmlns:a16="http://schemas.microsoft.com/office/drawing/2014/main" id="{08CDECB5-B802-8B48-FDF9-02745DEE4596}"/>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6" name="Picture 5">
            <a:extLst>
              <a:ext uri="{FF2B5EF4-FFF2-40B4-BE49-F238E27FC236}">
                <a16:creationId xmlns:a16="http://schemas.microsoft.com/office/drawing/2014/main" id="{05BD292F-0871-BE5B-68EA-B1423F5A8FC8}"/>
              </a:ext>
            </a:extLst>
          </p:cNvPr>
          <p:cNvPicPr>
            <a:picLocks noChangeAspect="1"/>
          </p:cNvPicPr>
          <p:nvPr/>
        </p:nvPicPr>
        <p:blipFill>
          <a:blip r:embed="rId2"/>
          <a:stretch>
            <a:fillRect/>
          </a:stretch>
        </p:blipFill>
        <p:spPr>
          <a:xfrm>
            <a:off x="351623" y="1661866"/>
            <a:ext cx="11488753" cy="3534268"/>
          </a:xfrm>
          <a:prstGeom prst="rect">
            <a:avLst/>
          </a:prstGeom>
        </p:spPr>
      </p:pic>
    </p:spTree>
    <p:extLst>
      <p:ext uri="{BB962C8B-B14F-4D97-AF65-F5344CB8AC3E}">
        <p14:creationId xmlns:p14="http://schemas.microsoft.com/office/powerpoint/2010/main" val="609943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814BC-A1AC-B2CE-37A4-8AE24802936B}"/>
              </a:ext>
            </a:extLst>
          </p:cNvPr>
          <p:cNvSpPr txBox="1"/>
          <p:nvPr/>
        </p:nvSpPr>
        <p:spPr>
          <a:xfrm>
            <a:off x="-2913313" y="354009"/>
            <a:ext cx="10452847" cy="584775"/>
          </a:xfrm>
          <a:prstGeom prst="rect">
            <a:avLst/>
          </a:prstGeom>
          <a:noFill/>
        </p:spPr>
        <p:txBody>
          <a:bodyPr wrap="square" rtlCol="0">
            <a:spAutoFit/>
          </a:bodyPr>
          <a:lstStyle/>
          <a:p>
            <a:pPr algn="ctr"/>
            <a:r>
              <a:rPr lang="en-IN" sz="3200" dirty="0">
                <a:solidFill>
                  <a:srgbClr val="7030A0"/>
                </a:solidFill>
                <a:latin typeface="Arial Black" panose="020B0A04020102020204" pitchFamily="34" charset="0"/>
              </a:rPr>
              <a:t> </a:t>
            </a:r>
            <a:r>
              <a:rPr lang="en-IN" sz="3200" dirty="0">
                <a:solidFill>
                  <a:srgbClr val="FF0000"/>
                </a:solidFill>
                <a:latin typeface="Algerian" panose="04020705040A02060702" pitchFamily="82" charset="0"/>
              </a:rPr>
              <a:t>Business</a:t>
            </a:r>
            <a:r>
              <a:rPr lang="en-IN" sz="3200" dirty="0">
                <a:solidFill>
                  <a:srgbClr val="FF0000"/>
                </a:solidFill>
                <a:latin typeface="Arial Black" panose="020B0A04020102020204" pitchFamily="34" charset="0"/>
              </a:rPr>
              <a:t> </a:t>
            </a:r>
            <a:r>
              <a:rPr lang="en-IN" sz="3200" dirty="0">
                <a:solidFill>
                  <a:srgbClr val="FF0000"/>
                </a:solidFill>
                <a:latin typeface="Algerian" panose="04020705040A02060702" pitchFamily="82" charset="0"/>
              </a:rPr>
              <a:t>Insights</a:t>
            </a:r>
          </a:p>
        </p:txBody>
      </p:sp>
      <p:sp>
        <p:nvSpPr>
          <p:cNvPr id="5" name="TextBox 4">
            <a:extLst>
              <a:ext uri="{FF2B5EF4-FFF2-40B4-BE49-F238E27FC236}">
                <a16:creationId xmlns:a16="http://schemas.microsoft.com/office/drawing/2014/main" id="{CCD20706-E323-7D03-FC48-F74E456D318E}"/>
              </a:ext>
            </a:extLst>
          </p:cNvPr>
          <p:cNvSpPr txBox="1"/>
          <p:nvPr/>
        </p:nvSpPr>
        <p:spPr>
          <a:xfrm>
            <a:off x="887506" y="1210235"/>
            <a:ext cx="10452847" cy="4708981"/>
          </a:xfrm>
          <a:prstGeom prst="rect">
            <a:avLst/>
          </a:prstGeom>
          <a:noFill/>
        </p:spPr>
        <p:txBody>
          <a:bodyPr wrap="square" rtlCol="0">
            <a:spAutoFit/>
          </a:bodyPr>
          <a:lstStyle/>
          <a:p>
            <a:pPr marL="342900" indent="-342900">
              <a:buFont typeface="Wingdings" panose="05000000000000000000" pitchFamily="2" charset="2"/>
              <a:buChar char="Ø"/>
            </a:pPr>
            <a:r>
              <a:rPr lang="en-US" sz="2800" dirty="0"/>
              <a:t>A small number of customers generate most of the revenue.</a:t>
            </a:r>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r>
              <a:rPr lang="en-US" sz="2800" dirty="0"/>
              <a:t> Few products and categories drive the majority of sales.</a:t>
            </a:r>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r>
              <a:rPr lang="en-US" sz="2800" dirty="0"/>
              <a:t> Sales show monthly fluctuations, indicating seasonal trends.</a:t>
            </a:r>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r>
              <a:rPr lang="en-US" sz="2800" dirty="0"/>
              <a:t> Some suppliers contribute significantly more revenue than others.</a:t>
            </a:r>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r>
              <a:rPr lang="en-US" sz="2800" dirty="0"/>
              <a:t> Employee sales performance varies across orders.</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4272844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212A65-E2F9-E70D-C6C7-2F27D3CE3F48}"/>
              </a:ext>
            </a:extLst>
          </p:cNvPr>
          <p:cNvSpPr txBox="1"/>
          <p:nvPr/>
        </p:nvSpPr>
        <p:spPr>
          <a:xfrm>
            <a:off x="869576" y="376518"/>
            <a:ext cx="10434918" cy="1077218"/>
          </a:xfrm>
          <a:prstGeom prst="rect">
            <a:avLst/>
          </a:prstGeom>
          <a:noFill/>
        </p:spPr>
        <p:txBody>
          <a:bodyPr wrap="square" rtlCol="0">
            <a:spAutoFit/>
          </a:bodyPr>
          <a:lstStyle/>
          <a:p>
            <a:r>
              <a:rPr lang="en-IN" sz="3200" b="1" dirty="0">
                <a:solidFill>
                  <a:srgbClr val="FF0000"/>
                </a:solidFill>
                <a:latin typeface="Algerian" panose="04020705040A02060702" pitchFamily="82" charset="0"/>
              </a:rPr>
              <a:t>Business Recommendations</a:t>
            </a:r>
          </a:p>
          <a:p>
            <a:pPr algn="ctr"/>
            <a:endParaRPr lang="en-IN" sz="3200" dirty="0">
              <a:solidFill>
                <a:srgbClr val="FF0000"/>
              </a:solidFill>
              <a:latin typeface="Arial Black" panose="020B0A04020102020204" pitchFamily="34" charset="0"/>
            </a:endParaRPr>
          </a:p>
        </p:txBody>
      </p:sp>
      <p:sp>
        <p:nvSpPr>
          <p:cNvPr id="3" name="TextBox 2">
            <a:extLst>
              <a:ext uri="{FF2B5EF4-FFF2-40B4-BE49-F238E27FC236}">
                <a16:creationId xmlns:a16="http://schemas.microsoft.com/office/drawing/2014/main" id="{E7CEC969-4881-62F9-437E-66AF90D5DA63}"/>
              </a:ext>
            </a:extLst>
          </p:cNvPr>
          <p:cNvSpPr txBox="1"/>
          <p:nvPr/>
        </p:nvSpPr>
        <p:spPr>
          <a:xfrm>
            <a:off x="264405" y="969484"/>
            <a:ext cx="11058019" cy="6001643"/>
          </a:xfrm>
          <a:prstGeom prst="rect">
            <a:avLst/>
          </a:prstGeom>
          <a:noFill/>
        </p:spPr>
        <p:txBody>
          <a:bodyPr wrap="square" rtlCol="0">
            <a:spAutoFit/>
          </a:bodyPr>
          <a:lstStyle/>
          <a:p>
            <a:pPr marL="342900" indent="-342900">
              <a:buFont typeface="Wingdings" panose="05000000000000000000" pitchFamily="2" charset="2"/>
              <a:buChar char="Ø"/>
            </a:pPr>
            <a:r>
              <a:rPr lang="en-US" sz="2800" dirty="0"/>
              <a:t>Introduce loyalty programs to retain high-value customers.</a:t>
            </a:r>
          </a:p>
          <a:p>
            <a:pPr marL="342900" indent="-3429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  Promote top-selling products and reduce stock of slow-moving items.</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 Plan marketing campaigns during low-sales months to stabilize revenue.</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 Strengthen partnerships with high-performing suppliers and review low-performing ones.</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 Implement performance incentives and training programs for employees to improve sales efficiency.</a:t>
            </a:r>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618827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686A8-74CD-CAEA-3FCB-5964774FED8D}"/>
              </a:ext>
            </a:extLst>
          </p:cNvPr>
          <p:cNvSpPr txBox="1"/>
          <p:nvPr/>
        </p:nvSpPr>
        <p:spPr>
          <a:xfrm>
            <a:off x="116326" y="156180"/>
            <a:ext cx="10443882" cy="646331"/>
          </a:xfrm>
          <a:prstGeom prst="rect">
            <a:avLst/>
          </a:prstGeom>
          <a:noFill/>
        </p:spPr>
        <p:txBody>
          <a:bodyPr wrap="square" rtlCol="0">
            <a:spAutoFit/>
          </a:bodyPr>
          <a:lstStyle/>
          <a:p>
            <a:r>
              <a:rPr lang="en-US" sz="3600" dirty="0">
                <a:solidFill>
                  <a:srgbClr val="FF0000"/>
                </a:solidFill>
                <a:latin typeface="Algerian" panose="04020705040A02060702" pitchFamily="82" charset="0"/>
              </a:rPr>
              <a:t>Conclusion</a:t>
            </a:r>
            <a:endParaRPr lang="en-IN" sz="3600" dirty="0">
              <a:solidFill>
                <a:srgbClr val="FF0000"/>
              </a:solidFill>
              <a:latin typeface="Algerian" panose="04020705040A02060702" pitchFamily="82" charset="0"/>
            </a:endParaRPr>
          </a:p>
        </p:txBody>
      </p:sp>
      <p:sp>
        <p:nvSpPr>
          <p:cNvPr id="3" name="TextBox 2">
            <a:extLst>
              <a:ext uri="{FF2B5EF4-FFF2-40B4-BE49-F238E27FC236}">
                <a16:creationId xmlns:a16="http://schemas.microsoft.com/office/drawing/2014/main" id="{F7B49560-8DF3-B297-7622-E08FB8A86CC6}"/>
              </a:ext>
            </a:extLst>
          </p:cNvPr>
          <p:cNvSpPr txBox="1"/>
          <p:nvPr/>
        </p:nvSpPr>
        <p:spPr>
          <a:xfrm>
            <a:off x="116326" y="958467"/>
            <a:ext cx="11215062" cy="9971961"/>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tx1"/>
                </a:solidFill>
              </a:rPr>
              <a:t>In conclusion, this project showcases the power of SQL in transforming raw retail data into strategic business intelligence. By analyzing customers, products, suppliers, employees, and sales trends, the study uncovers key revenue drivers and operational gaps within the grocery store.</a:t>
            </a:r>
          </a:p>
          <a:p>
            <a:pPr marL="342900" indent="-342900">
              <a:buFont typeface="Wingdings" panose="05000000000000000000" pitchFamily="2" charset="2"/>
              <a:buChar char="Ø"/>
            </a:pPr>
            <a:endParaRPr lang="en-US" sz="2400" dirty="0">
              <a:solidFill>
                <a:schemeClr val="tx1"/>
              </a:solidFill>
            </a:endParaRPr>
          </a:p>
          <a:p>
            <a:pPr marL="342900" indent="-342900">
              <a:buFont typeface="Wingdings" panose="05000000000000000000" pitchFamily="2" charset="2"/>
              <a:buChar char="Ø"/>
            </a:pPr>
            <a:r>
              <a:rPr lang="en-US" sz="2400" dirty="0">
                <a:solidFill>
                  <a:schemeClr val="tx1"/>
                </a:solidFill>
              </a:rPr>
              <a:t>The insights generated enable smarter inventory management, stronger supplier decisions, improved employee performance tracking, and targeted customer strategies. Ultimately, this project highlights how data-driven analysis can support sustainable growth and create a competitive advantage in the retail industry.</a:t>
            </a:r>
          </a:p>
          <a:p>
            <a:pPr marL="342900" indent="-342900">
              <a:buFont typeface="Wingdings" panose="05000000000000000000" pitchFamily="2" charset="2"/>
              <a:buChar char="Ø"/>
            </a:pPr>
            <a:endParaRPr lang="en-US" sz="2400"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3989946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78066-B819-84E0-F31B-4C56E89F8CC1}"/>
              </a:ext>
            </a:extLst>
          </p:cNvPr>
          <p:cNvSpPr txBox="1"/>
          <p:nvPr/>
        </p:nvSpPr>
        <p:spPr>
          <a:xfrm>
            <a:off x="1630495" y="2151727"/>
            <a:ext cx="7788926" cy="2554545"/>
          </a:xfrm>
          <a:prstGeom prst="rect">
            <a:avLst/>
          </a:prstGeom>
          <a:noFill/>
        </p:spPr>
        <p:txBody>
          <a:bodyPr wrap="square">
            <a:spAutoFit/>
          </a:bodyPr>
          <a:lstStyle/>
          <a:p>
            <a:pPr algn="ctr"/>
            <a:r>
              <a:rPr lang="en-US" sz="8000" dirty="0">
                <a:solidFill>
                  <a:srgbClr val="C00000"/>
                </a:solidFill>
                <a:latin typeface="Arial Black" panose="020B0A04020102020204" pitchFamily="34" charset="0"/>
              </a:rPr>
              <a:t>Any </a:t>
            </a:r>
          </a:p>
          <a:p>
            <a:pPr algn="ctr"/>
            <a:r>
              <a:rPr lang="en-US" sz="8000" dirty="0">
                <a:solidFill>
                  <a:srgbClr val="C00000"/>
                </a:solidFill>
                <a:latin typeface="Arial Black" panose="020B0A04020102020204" pitchFamily="34" charset="0"/>
              </a:rPr>
              <a:t>Questions</a:t>
            </a:r>
            <a:endParaRPr lang="en-IN" sz="8000" dirty="0">
              <a:solidFill>
                <a:srgbClr val="C00000"/>
              </a:solidFill>
              <a:latin typeface="Arial Black" panose="020B0A04020102020204" pitchFamily="34" charset="0"/>
            </a:endParaRPr>
          </a:p>
        </p:txBody>
      </p:sp>
    </p:spTree>
    <p:extLst>
      <p:ext uri="{BB962C8B-B14F-4D97-AF65-F5344CB8AC3E}">
        <p14:creationId xmlns:p14="http://schemas.microsoft.com/office/powerpoint/2010/main" val="3580041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1062</TotalTime>
  <Words>763</Words>
  <Application>Microsoft Office PowerPoint</Application>
  <PresentationFormat>Widescreen</PresentationFormat>
  <Paragraphs>127</Paragraphs>
  <Slides>31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Calibri</vt:lpstr>
      <vt:lpstr>Arial</vt:lpstr>
      <vt:lpstr>Libre Baskerville</vt:lpstr>
      <vt:lpstr>Arial Black</vt:lpstr>
      <vt:lpstr>Algerian</vt:lpstr>
      <vt:lpstr>Wingdings</vt:lpstr>
      <vt:lpstr>Office Theme</vt:lpstr>
      <vt:lpstr>PowerPoint Presentation</vt:lpstr>
      <vt:lpstr>Agenda </vt:lpstr>
      <vt:lpstr>PowerPoint Presentation</vt:lpstr>
      <vt:lpstr>PowerPoint Presentation</vt:lpstr>
      <vt:lpstr>Objectives </vt:lpstr>
      <vt:lpstr>ER Diagram</vt:lpstr>
      <vt:lpstr>Relationship Between The Tables</vt:lpstr>
      <vt:lpstr>PowerPoint Presentation</vt:lpstr>
      <vt:lpstr> What is the total and average purchase value per customer?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IQ</cp:lastModifiedBy>
  <cp:revision>17</cp:revision>
  <dcterms:created xsi:type="dcterms:W3CDTF">2021-02-16T05:19:01Z</dcterms:created>
  <dcterms:modified xsi:type="dcterms:W3CDTF">2026-02-13T08:30:38Z</dcterms:modified>
</cp:coreProperties>
</file>